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9" r:id="rId4"/>
  </p:sldMasterIdLst>
  <p:notesMasterIdLst>
    <p:notesMasterId r:id="rId22"/>
  </p:notesMasterIdLst>
  <p:handoutMasterIdLst>
    <p:handoutMasterId r:id="rId23"/>
  </p:handoutMasterIdLst>
  <p:sldIdLst>
    <p:sldId id="256" r:id="rId5"/>
    <p:sldId id="301" r:id="rId6"/>
    <p:sldId id="330" r:id="rId7"/>
    <p:sldId id="305" r:id="rId8"/>
    <p:sldId id="285" r:id="rId9"/>
    <p:sldId id="314" r:id="rId10"/>
    <p:sldId id="315" r:id="rId11"/>
    <p:sldId id="316" r:id="rId12"/>
    <p:sldId id="317" r:id="rId13"/>
    <p:sldId id="319" r:id="rId14"/>
    <p:sldId id="325" r:id="rId15"/>
    <p:sldId id="321" r:id="rId16"/>
    <p:sldId id="327" r:id="rId17"/>
    <p:sldId id="328" r:id="rId18"/>
    <p:sldId id="326" r:id="rId19"/>
    <p:sldId id="324" r:id="rId20"/>
    <p:sldId id="32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DCDCDC"/>
    <a:srgbClr val="E8E8E8"/>
    <a:srgbClr val="C7C7C7"/>
    <a:srgbClr val="FFFFFF"/>
    <a:srgbClr val="D9D9D9"/>
    <a:srgbClr val="000000"/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3003" autoAdjust="0"/>
  </p:normalViewPr>
  <p:slideViewPr>
    <p:cSldViewPr snapToGrid="0">
      <p:cViewPr varScale="1">
        <p:scale>
          <a:sx n="74" d="100"/>
          <a:sy n="74" d="100"/>
        </p:scale>
        <p:origin x="120" y="72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59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979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465619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7183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21562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3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01384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743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75863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6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18452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0381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531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2901535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636917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8654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56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40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667" r:id="rId16"/>
    <p:sldLayoutId id="2147483685" r:id="rId17"/>
    <p:sldLayoutId id="2147483650" r:id="rId18"/>
    <p:sldLayoutId id="2147483651" r:id="rId19"/>
    <p:sldLayoutId id="2147483671" r:id="rId20"/>
    <p:sldLayoutId id="2147483683" r:id="rId21"/>
    <p:sldLayoutId id="2147483687" r:id="rId22"/>
    <p:sldLayoutId id="2147483680" r:id="rId23"/>
    <p:sldLayoutId id="2147483678" r:id="rId24"/>
    <p:sldLayoutId id="2147483653" r:id="rId25"/>
    <p:sldLayoutId id="2147483677" r:id="rId26"/>
    <p:sldLayoutId id="2147483673" r:id="rId27"/>
    <p:sldLayoutId id="2147483674" r:id="rId28"/>
    <p:sldLayoutId id="2147483675" r:id="rId29"/>
    <p:sldLayoutId id="2147483676" r:id="rId30"/>
    <p:sldLayoutId id="2147483668" r:id="rId31"/>
    <p:sldLayoutId id="2147483755" r:id="rId3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png"/><Relationship Id="rId4" Type="http://schemas.microsoft.com/office/2007/relationships/hdphoto" Target="../media/hdphoto6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6" Type="http://schemas.microsoft.com/office/2007/relationships/hdphoto" Target="../media/hdphoto10.wdp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ch-database.zya.me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microsoft.com/office/2007/relationships/hdphoto" Target="../media/hdphoto10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microsoft.com/office/2007/relationships/hdphoto" Target="../media/hdphoto1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591456"/>
            <a:ext cx="10038945" cy="14735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Baguio City Ordinance Tracker Web Database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928792"/>
            <a:ext cx="7953375" cy="457200"/>
          </a:xfrm>
        </p:spPr>
        <p:txBody>
          <a:bodyPr/>
          <a:lstStyle/>
          <a:p>
            <a:r>
              <a:rPr lang="en-US" dirty="0"/>
              <a:t>Sangguniang </a:t>
            </a:r>
            <a:r>
              <a:rPr lang="en-US" dirty="0" err="1"/>
              <a:t>Panlungsod</a:t>
            </a:r>
            <a:r>
              <a:rPr lang="en-US" dirty="0"/>
              <a:t> Interns (Baguio College of Technology)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9EE0FF97-1301-DEFB-B132-0D414EC0FB3F}"/>
              </a:ext>
            </a:extLst>
          </p:cNvPr>
          <p:cNvSpPr txBox="1">
            <a:spLocks/>
          </p:cNvSpPr>
          <p:nvPr/>
        </p:nvSpPr>
        <p:spPr>
          <a:xfrm>
            <a:off x="12761392" y="-793020"/>
            <a:ext cx="1737360" cy="6858000"/>
          </a:xfrm>
          <a:prstGeom prst="rect">
            <a:avLst/>
          </a:prstGeom>
        </p:spPr>
        <p:txBody>
          <a:bodyPr vert="vert270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0" kern="12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000000"/>
                </a:highlight>
              </a:rPr>
              <a:t>About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3CCECC-3B34-3515-602A-2CBB14F8E837}"/>
              </a:ext>
            </a:extLst>
          </p:cNvPr>
          <p:cNvSpPr/>
          <p:nvPr/>
        </p:nvSpPr>
        <p:spPr>
          <a:xfrm>
            <a:off x="-5809682" y="220537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3C72D63-EED2-BAFA-BCD9-F65C749196BB}"/>
              </a:ext>
            </a:extLst>
          </p:cNvPr>
          <p:cNvSpPr txBox="1">
            <a:spLocks/>
          </p:cNvSpPr>
          <p:nvPr/>
        </p:nvSpPr>
        <p:spPr>
          <a:xfrm>
            <a:off x="-5714666" y="2423198"/>
            <a:ext cx="4805354" cy="201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Panglunsod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photo of person using laptop">
            <a:extLst>
              <a:ext uri="{FF2B5EF4-FFF2-40B4-BE49-F238E27FC236}">
                <a16:creationId xmlns:a16="http://schemas.microsoft.com/office/drawing/2014/main" id="{580459A6-74F1-49C9-B51B-9878E21EB1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/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B9CEE0-AD6F-97B4-C44F-0C145B0B06D0}"/>
              </a:ext>
            </a:extLst>
          </p:cNvPr>
          <p:cNvSpPr/>
          <p:nvPr/>
        </p:nvSpPr>
        <p:spPr>
          <a:xfrm>
            <a:off x="926398" y="221365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414" y="2431478"/>
            <a:ext cx="4805354" cy="2011604"/>
          </a:xfr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b="1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Panlungsod</a:t>
            </a:r>
            <a:r>
              <a:rPr lang="en-US" sz="20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57CCB72-3874-46DE-9CF8-8C39DE3D26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03992" y="-866248"/>
            <a:ext cx="1737360" cy="6858000"/>
          </a:xfrm>
        </p:spPr>
        <p:txBody>
          <a:bodyPr/>
          <a:lstStyle/>
          <a:p>
            <a:r>
              <a:rPr lang="en-US" dirty="0">
                <a:highlight>
                  <a:srgbClr val="000000"/>
                </a:highlight>
              </a:rPr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8317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64BC-DB16-7884-77F0-F78512E10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8C73D863-0BE0-AB50-EB17-C003592274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C620F2B-10B6-6E48-48E5-938624E58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591456"/>
            <a:ext cx="10038945" cy="14735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Baguio City Ordinance Tracker Web Database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E87C9-241B-2EA9-6C98-A680DB56B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928792"/>
            <a:ext cx="7953375" cy="457200"/>
          </a:xfrm>
        </p:spPr>
        <p:txBody>
          <a:bodyPr/>
          <a:lstStyle/>
          <a:p>
            <a:r>
              <a:rPr lang="en-US" dirty="0"/>
              <a:t>Sangguniang </a:t>
            </a:r>
            <a:r>
              <a:rPr lang="en-US" dirty="0" err="1"/>
              <a:t>Panlungsod</a:t>
            </a:r>
            <a:r>
              <a:rPr lang="en-US" dirty="0"/>
              <a:t> Interns (Baguio College of Technology)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648A1233-7A24-EC45-6FF6-7AAD448F19CA}"/>
              </a:ext>
            </a:extLst>
          </p:cNvPr>
          <p:cNvSpPr txBox="1">
            <a:spLocks/>
          </p:cNvSpPr>
          <p:nvPr/>
        </p:nvSpPr>
        <p:spPr>
          <a:xfrm>
            <a:off x="12761392" y="-793020"/>
            <a:ext cx="1737360" cy="6858000"/>
          </a:xfrm>
          <a:prstGeom prst="rect">
            <a:avLst/>
          </a:prstGeom>
        </p:spPr>
        <p:txBody>
          <a:bodyPr vert="vert270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0" kern="12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000000"/>
                </a:highlight>
              </a:rPr>
              <a:t>About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A664EE-9831-137C-CBF9-2F7547E348A8}"/>
              </a:ext>
            </a:extLst>
          </p:cNvPr>
          <p:cNvSpPr/>
          <p:nvPr/>
        </p:nvSpPr>
        <p:spPr>
          <a:xfrm>
            <a:off x="-5809682" y="220537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E159AF-C08C-96FA-2275-52D3D639D42D}"/>
              </a:ext>
            </a:extLst>
          </p:cNvPr>
          <p:cNvSpPr txBox="1">
            <a:spLocks/>
          </p:cNvSpPr>
          <p:nvPr/>
        </p:nvSpPr>
        <p:spPr>
          <a:xfrm>
            <a:off x="-5714666" y="2423198"/>
            <a:ext cx="4805354" cy="201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Panglunsod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</p:spTree>
    <p:extLst>
      <p:ext uri="{BB962C8B-B14F-4D97-AF65-F5344CB8AC3E}">
        <p14:creationId xmlns:p14="http://schemas.microsoft.com/office/powerpoint/2010/main" val="368488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F92E0A13-D67E-9526-5051-09B6F9EDFF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33" t="9729" r="81"/>
          <a:stretch>
            <a:fillRect/>
          </a:stretch>
        </p:blipFill>
        <p:spPr>
          <a:xfrm>
            <a:off x="0" y="0"/>
            <a:ext cx="12192000" cy="6907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B802774E-251A-CFA0-D48A-CDA55B2B2443}"/>
              </a:ext>
            </a:extLst>
          </p:cNvPr>
          <p:cNvSpPr txBox="1">
            <a:spLocks/>
          </p:cNvSpPr>
          <p:nvPr/>
        </p:nvSpPr>
        <p:spPr>
          <a:xfrm>
            <a:off x="14117752" y="-319088"/>
            <a:ext cx="1737360" cy="6858000"/>
          </a:xfrm>
          <a:prstGeom prst="rect">
            <a:avLst/>
          </a:prstGeom>
        </p:spPr>
        <p:txBody>
          <a:bodyPr vert="vert270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0" kern="12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highlight>
                  <a:srgbClr val="000000"/>
                </a:highlight>
              </a:rPr>
              <a:t>About</a:t>
            </a:r>
            <a:endParaRPr lang="en-US" dirty="0">
              <a:highlight>
                <a:srgbClr val="000000"/>
              </a:highligh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AF7D62-2A69-EA45-E38C-3831190320B1}"/>
              </a:ext>
            </a:extLst>
          </p:cNvPr>
          <p:cNvSpPr/>
          <p:nvPr/>
        </p:nvSpPr>
        <p:spPr>
          <a:xfrm>
            <a:off x="-5809682" y="220537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3C95CB-03F8-D5AE-266E-BB45411D5AC8}"/>
              </a:ext>
            </a:extLst>
          </p:cNvPr>
          <p:cNvSpPr txBox="1">
            <a:spLocks/>
          </p:cNvSpPr>
          <p:nvPr/>
        </p:nvSpPr>
        <p:spPr>
          <a:xfrm>
            <a:off x="-5714666" y="2423198"/>
            <a:ext cx="4805354" cy="201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Panglunsod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  <p:pic>
        <p:nvPicPr>
          <p:cNvPr id="19" name="Picture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3B38758A-0FE0-8093-5DB8-8D3476D031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" t="9729" r="81"/>
          <a:stretch>
            <a:fillRect/>
          </a:stretch>
        </p:blipFill>
        <p:spPr>
          <a:xfrm>
            <a:off x="1186761" y="647700"/>
            <a:ext cx="9818477" cy="556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67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1AEC43-C4A2-7171-FDAA-42C533A98D3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4671EBE-B721-4278-A276-75F44D556D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ZA" noProof="1"/>
              <a:t>Our product is priced below that of other financial management tools on the market</a:t>
            </a:r>
          </a:p>
          <a:p>
            <a:endParaRPr lang="en-ZA" noProof="1"/>
          </a:p>
          <a:p>
            <a:r>
              <a:rPr lang="en-ZA" noProof="1"/>
              <a:t>Simple and easy to use app and website, compared to the complex tools of the competitors</a:t>
            </a:r>
          </a:p>
          <a:p>
            <a:endParaRPr lang="en-ZA" noProof="1"/>
          </a:p>
          <a:p>
            <a:r>
              <a:rPr lang="en-ZA" noProof="1"/>
              <a:t>Affordability is the main draw for our consumers to our product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72E633-D3D4-4B6D-909F-937FED844C4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ZA" noProof="1"/>
              <a:t>Company A</a:t>
            </a:r>
            <a:br>
              <a:rPr lang="en-ZA" noProof="1"/>
            </a:br>
            <a:r>
              <a:rPr lang="en-ZA" noProof="1"/>
              <a:t>Product is more expensive</a:t>
            </a:r>
          </a:p>
          <a:p>
            <a:endParaRPr lang="en-ZA" noProof="1"/>
          </a:p>
          <a:p>
            <a:r>
              <a:rPr lang="en-ZA" noProof="1"/>
              <a:t>Companies B &amp; C </a:t>
            </a:r>
            <a:br>
              <a:rPr lang="en-ZA" noProof="1"/>
            </a:br>
            <a:r>
              <a:rPr lang="en-ZA" noProof="1"/>
              <a:t>Product is expensive and inconvenient to use</a:t>
            </a:r>
          </a:p>
          <a:p>
            <a:endParaRPr lang="en-ZA" noProof="1"/>
          </a:p>
          <a:p>
            <a:r>
              <a:rPr lang="en-ZA" noProof="1"/>
              <a:t>Companies D &amp; E</a:t>
            </a:r>
            <a:br>
              <a:rPr lang="en-ZA" noProof="1"/>
            </a:br>
            <a:r>
              <a:rPr lang="en-ZA" noProof="1"/>
              <a:t>Product is affordable, but inconvenient to use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892EE2B-E8C5-4129-9850-04151ED0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B5D1873B-E191-492D-8A88-5BC54325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D55AB81-8A4D-4B4A-8B0F-A7407C695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0D87A326-BCD0-A171-B300-E21515D6D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300" y="0"/>
            <a:ext cx="12247299" cy="6858000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DF44B82-FC47-41FD-91AB-348179008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762" y="649224"/>
            <a:ext cx="9928476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829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7A3974-1BDF-4764-347D-A077E12A3F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8CF026C-968F-E56C-A74B-C4BF5535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ADA71B-9E76-1D81-259B-A242D1FB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42086B-A308-459E-BC1C-2BF0A61C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CB2817-582D-BB7D-5706-955A0D931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4BB499-E7AF-EEE0-08F4-F0E0841FC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176" y="649224"/>
            <a:ext cx="9883649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471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78A862B4-4B19-F19E-E169-C266A4CA87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t="5215"/>
          <a:stretch/>
        </p:blipFill>
        <p:spPr>
          <a:xfrm>
            <a:off x="-1657" y="0"/>
            <a:ext cx="12193657" cy="6858000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138260-D812-A483-E7C8-46A3A69B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D57EA5-8E92-15D5-0BB9-DA2C213A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849CF1-C8A7-617D-5E8D-C4B88B18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2973FB70-EF2B-C65E-C6D6-17350096CA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15"/>
          <a:stretch/>
        </p:blipFill>
        <p:spPr>
          <a:xfrm>
            <a:off x="1153505" y="649224"/>
            <a:ext cx="9884991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49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2609D43-77D3-E750-DD50-AE107A06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14DA612-0676-AF00-4374-A6706948F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ED5FB24-1928-44B4-8ACB-C5B8F873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F455F4C5-2F37-7254-C7AD-04E2E361C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6382" y="0"/>
            <a:ext cx="12238382" cy="6858000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A0AAD05-7D3E-243F-686E-784E26EBD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76" y="649224"/>
            <a:ext cx="9921248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232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40CA8A-78AD-4AA3-920E-BB809658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89668D-1D92-FCAE-7D3A-F835427C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E2D8EA2-E330-8752-F1FC-FA259925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4D896D68-217B-46D9-58EE-A1A8600BA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0BF31530-A70B-E6AA-5871-407940AACD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176" y="649224"/>
            <a:ext cx="9883648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41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75570E5-052B-28F7-6831-52FC7E72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414000-101A-6DF4-E87D-20D0CBDB3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F8A5E3-EF9A-7EC6-C008-C16442A9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BE2AE72A-A69C-588E-5FC3-172DC1C1B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F9A58D0B-7881-EE14-5E1C-E1C0B398E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176" y="649224"/>
            <a:ext cx="9883648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936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6F885-41DF-5927-058B-50F813DC0E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8CF026C-968F-E56C-A74B-C4BF5535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ADA71B-9E76-1D81-259B-A242D1FB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42086B-A308-459E-BC1C-2BF0A61C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0B3EB-F06C-40CA-F1EE-FF408FE8A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008EAB6-C20B-545B-DEB6-9B4D6019C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176" y="649224"/>
            <a:ext cx="9883648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954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4C01F5-0D56-EA0A-B86A-68F2E9D7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14BF52-8CC4-4C40-5D77-20369511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0043D9-7E36-8F5B-9C5B-B406899B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CE10C9F5-D541-D36D-9D87-FD0541A51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5" descr="Open photo">
            <a:extLst>
              <a:ext uri="{FF2B5EF4-FFF2-40B4-BE49-F238E27FC236}">
                <a16:creationId xmlns:a16="http://schemas.microsoft.com/office/drawing/2014/main" id="{F738A195-B5B2-0EE3-EC21-CB084C07C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7885" y="-823212"/>
            <a:ext cx="7362124" cy="736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Open photo">
            <a:extLst>
              <a:ext uri="{FF2B5EF4-FFF2-40B4-BE49-F238E27FC236}">
                <a16:creationId xmlns:a16="http://schemas.microsoft.com/office/drawing/2014/main" id="{5C429A76-6AD8-64DF-1653-5595E1406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298359" y="0"/>
            <a:ext cx="6841159" cy="693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3D195DE-0A2C-2305-6D76-F80603E42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4176" y="649224"/>
            <a:ext cx="9883648" cy="55595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056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8DB8-D7F0-78CC-5965-0D868AB1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2D837B58-AD72-D00A-F42C-5F88DA717F6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B5DEC3F-9D71-8E8B-5D12-39709C130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591456"/>
            <a:ext cx="10038945" cy="14735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Baguio City Ordinance Tracker Web Database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903926-B9AC-2CD0-6E77-21CF61219D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928792"/>
            <a:ext cx="7953375" cy="457200"/>
          </a:xfrm>
        </p:spPr>
        <p:txBody>
          <a:bodyPr/>
          <a:lstStyle/>
          <a:p>
            <a:r>
              <a:rPr lang="en-US" dirty="0"/>
              <a:t>Sangguniang </a:t>
            </a:r>
            <a:r>
              <a:rPr lang="en-US" dirty="0" err="1"/>
              <a:t>Panlungsod</a:t>
            </a:r>
            <a:r>
              <a:rPr lang="en-US" dirty="0"/>
              <a:t> Interns (Baguio College of Technology)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FC9ED790-2454-DDC1-B238-73F7FF9C018C}"/>
              </a:ext>
            </a:extLst>
          </p:cNvPr>
          <p:cNvSpPr txBox="1">
            <a:spLocks/>
          </p:cNvSpPr>
          <p:nvPr/>
        </p:nvSpPr>
        <p:spPr>
          <a:xfrm>
            <a:off x="12761392" y="-793020"/>
            <a:ext cx="1737360" cy="6858000"/>
          </a:xfrm>
          <a:prstGeom prst="rect">
            <a:avLst/>
          </a:prstGeom>
        </p:spPr>
        <p:txBody>
          <a:bodyPr vert="vert270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0" kern="12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000000"/>
                </a:highlight>
              </a:rPr>
              <a:t>About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FBD247-6CAF-7D77-6BEF-A8732E052BBF}"/>
              </a:ext>
            </a:extLst>
          </p:cNvPr>
          <p:cNvSpPr/>
          <p:nvPr/>
        </p:nvSpPr>
        <p:spPr>
          <a:xfrm>
            <a:off x="-5809682" y="220537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6FBF12E-7011-09B4-6711-ECFEA54515FA}"/>
              </a:ext>
            </a:extLst>
          </p:cNvPr>
          <p:cNvSpPr txBox="1">
            <a:spLocks/>
          </p:cNvSpPr>
          <p:nvPr/>
        </p:nvSpPr>
        <p:spPr>
          <a:xfrm>
            <a:off x="-5714666" y="2423198"/>
            <a:ext cx="4805354" cy="201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Panglunsod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</p:spTree>
    <p:extLst>
      <p:ext uri="{BB962C8B-B14F-4D97-AF65-F5344CB8AC3E}">
        <p14:creationId xmlns:p14="http://schemas.microsoft.com/office/powerpoint/2010/main" val="158757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Open photo">
            <a:extLst>
              <a:ext uri="{FF2B5EF4-FFF2-40B4-BE49-F238E27FC236}">
                <a16:creationId xmlns:a16="http://schemas.microsoft.com/office/drawing/2014/main" id="{383EFA5B-B011-8F92-5CE6-E39C0E334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421" y="-39756"/>
            <a:ext cx="6841159" cy="693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>
            <a:hlinkClick r:id="rId4"/>
            <a:extLst>
              <a:ext uri="{FF2B5EF4-FFF2-40B4-BE49-F238E27FC236}">
                <a16:creationId xmlns:a16="http://schemas.microsoft.com/office/drawing/2014/main" id="{6E8F4E58-7B36-3F5B-7E57-333C498078DF}"/>
              </a:ext>
            </a:extLst>
          </p:cNvPr>
          <p:cNvSpPr>
            <a:spLocks/>
          </p:cNvSpPr>
          <p:nvPr/>
        </p:nvSpPr>
        <p:spPr>
          <a:xfrm>
            <a:off x="4348223" y="2973247"/>
            <a:ext cx="3495555" cy="911507"/>
          </a:xfrm>
          <a:prstGeom prst="roundRect">
            <a:avLst>
              <a:gd name="adj" fmla="val 20477"/>
            </a:avLst>
          </a:prstGeom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92EF0-4C84-EB7E-2927-37A37BCEF0B6}"/>
              </a:ext>
            </a:extLst>
          </p:cNvPr>
          <p:cNvSpPr txBox="1">
            <a:spLocks/>
          </p:cNvSpPr>
          <p:nvPr/>
        </p:nvSpPr>
        <p:spPr>
          <a:xfrm>
            <a:off x="5192771" y="3013501"/>
            <a:ext cx="1806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4918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Open photo">
            <a:extLst>
              <a:ext uri="{FF2B5EF4-FFF2-40B4-BE49-F238E27FC236}">
                <a16:creationId xmlns:a16="http://schemas.microsoft.com/office/drawing/2014/main" id="{2C714790-7C18-4B75-904E-ECEED7947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558" y="-82296"/>
            <a:ext cx="6940296" cy="694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" descr="Open photo">
            <a:extLst>
              <a:ext uri="{FF2B5EF4-FFF2-40B4-BE49-F238E27FC236}">
                <a16:creationId xmlns:a16="http://schemas.microsoft.com/office/drawing/2014/main" id="{7BA0CA60-E7AB-802A-C5F0-DCD3CFE5B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67" y="-1"/>
            <a:ext cx="6841159" cy="693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37EA259-C8F6-6836-780A-DC8AB91DF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49" y="1000639"/>
            <a:ext cx="11235902" cy="5157663"/>
          </a:xfrm>
          <a:prstGeom prst="rect">
            <a:avLst/>
          </a:prstGeom>
        </p:spPr>
      </p:pic>
      <p:sp>
        <p:nvSpPr>
          <p:cNvPr id="26" name="Title 42">
            <a:extLst>
              <a:ext uri="{FF2B5EF4-FFF2-40B4-BE49-F238E27FC236}">
                <a16:creationId xmlns:a16="http://schemas.microsoft.com/office/drawing/2014/main" id="{32F2A1C5-C27E-CD54-0B7E-715FDEDA0C67}"/>
              </a:ext>
            </a:extLst>
          </p:cNvPr>
          <p:cNvSpPr txBox="1">
            <a:spLocks/>
          </p:cNvSpPr>
          <p:nvPr/>
        </p:nvSpPr>
        <p:spPr>
          <a:xfrm>
            <a:off x="838200" y="313731"/>
            <a:ext cx="10515600" cy="68690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Arial Black" panose="020B0A04020102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 TEAM</a:t>
            </a:r>
          </a:p>
        </p:txBody>
      </p:sp>
    </p:spTree>
    <p:extLst>
      <p:ext uri="{BB962C8B-B14F-4D97-AF65-F5344CB8AC3E}">
        <p14:creationId xmlns:p14="http://schemas.microsoft.com/office/powerpoint/2010/main" val="2891235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Open photo">
            <a:extLst>
              <a:ext uri="{FF2B5EF4-FFF2-40B4-BE49-F238E27FC236}">
                <a16:creationId xmlns:a16="http://schemas.microsoft.com/office/drawing/2014/main" id="{EC514146-6842-54D3-F5AA-6058F7BD5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082" y="-181918"/>
            <a:ext cx="7221837" cy="722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Open photo">
            <a:extLst>
              <a:ext uri="{FF2B5EF4-FFF2-40B4-BE49-F238E27FC236}">
                <a16:creationId xmlns:a16="http://schemas.microsoft.com/office/drawing/2014/main" id="{F3CD1392-5BDE-5091-7E51-28FFC4AAC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89531" y="-8681"/>
            <a:ext cx="6939169" cy="703690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C2FD1-5902-D09A-9E6D-11D3A183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2" y="506642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 FOR LISTENING!!</a:t>
            </a:r>
            <a:endParaRPr lang="en-PH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102AB4-9B55-B69D-96D2-3F759F08D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297" y="466015"/>
            <a:ext cx="3239310" cy="46118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62AC2C-A3D4-C115-371C-F2F6D0D26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184" y="467027"/>
            <a:ext cx="3070568" cy="4608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D0546E-64F1-69BE-F6E9-B85E7F38E8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167" y="466015"/>
            <a:ext cx="3239310" cy="46099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590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A1B9-65FB-F14B-7765-023A05E8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bridge and cables">
            <a:extLst>
              <a:ext uri="{FF2B5EF4-FFF2-40B4-BE49-F238E27FC236}">
                <a16:creationId xmlns:a16="http://schemas.microsoft.com/office/drawing/2014/main" id="{A9B31E02-C485-9F0C-FF3D-0A596E20249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C0B11E5-A40B-69F1-D89D-8FF5D6CE3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4591456"/>
            <a:ext cx="10038945" cy="147352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Baguio City Ordinance Tracker Web Database 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62618-17C2-9ED8-F508-648B1944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928792"/>
            <a:ext cx="7953375" cy="457200"/>
          </a:xfrm>
        </p:spPr>
        <p:txBody>
          <a:bodyPr/>
          <a:lstStyle/>
          <a:p>
            <a:r>
              <a:rPr lang="en-US" dirty="0"/>
              <a:t>Sangguniang </a:t>
            </a:r>
            <a:r>
              <a:rPr lang="en-US" dirty="0" err="1"/>
              <a:t>Panlungsod</a:t>
            </a:r>
            <a:r>
              <a:rPr lang="en-US" dirty="0"/>
              <a:t> Interns (Baguio College of Technology)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C716DE11-7CE2-5FAA-8F7D-24D2797C93D3}"/>
              </a:ext>
            </a:extLst>
          </p:cNvPr>
          <p:cNvSpPr txBox="1">
            <a:spLocks/>
          </p:cNvSpPr>
          <p:nvPr/>
        </p:nvSpPr>
        <p:spPr>
          <a:xfrm>
            <a:off x="12761392" y="-793020"/>
            <a:ext cx="1737360" cy="6858000"/>
          </a:xfrm>
          <a:prstGeom prst="rect">
            <a:avLst/>
          </a:prstGeom>
        </p:spPr>
        <p:txBody>
          <a:bodyPr vert="vert270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3500" kern="12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ighlight>
                  <a:srgbClr val="000000"/>
                </a:highlight>
              </a:rPr>
              <a:t>About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E00DF2-0CAB-8BC6-9B54-442C0F973935}"/>
              </a:ext>
            </a:extLst>
          </p:cNvPr>
          <p:cNvSpPr/>
          <p:nvPr/>
        </p:nvSpPr>
        <p:spPr>
          <a:xfrm>
            <a:off x="-5809682" y="2205378"/>
            <a:ext cx="4995387" cy="2430684"/>
          </a:xfrm>
          <a:prstGeom prst="roundRect">
            <a:avLst>
              <a:gd name="adj" fmla="val 4510"/>
            </a:avLst>
          </a:prstGeom>
          <a:solidFill>
            <a:srgbClr val="E8E8E8">
              <a:alpha val="62353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BB73A17-3CE6-8529-11A3-A190F04ACCE5}"/>
              </a:ext>
            </a:extLst>
          </p:cNvPr>
          <p:cNvSpPr txBox="1">
            <a:spLocks/>
          </p:cNvSpPr>
          <p:nvPr/>
        </p:nvSpPr>
        <p:spPr>
          <a:xfrm>
            <a:off x="-5714666" y="2423198"/>
            <a:ext cx="4805354" cy="20116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	The purpose of  Web-based ordinance tracker and database system for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Sangguninang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20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Panglunsod</a:t>
            </a:r>
            <a:r>
              <a:rPr lang="en-US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to have a simpler, faster and more user-friendly System for both the staffs  and the public.</a:t>
            </a:r>
          </a:p>
        </p:txBody>
      </p:sp>
    </p:spTree>
    <p:extLst>
      <p:ext uri="{BB962C8B-B14F-4D97-AF65-F5344CB8AC3E}">
        <p14:creationId xmlns:p14="http://schemas.microsoft.com/office/powerpoint/2010/main" val="279029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1219</TotalTime>
  <Words>389</Words>
  <Application>Microsoft Office PowerPoint</Application>
  <PresentationFormat>Widescreen</PresentationFormat>
  <Paragraphs>61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Arial Black</vt:lpstr>
      <vt:lpstr>Calibri</vt:lpstr>
      <vt:lpstr>Sans Serif Collection</vt:lpstr>
      <vt:lpstr>Source Sans Pro ExtraLight</vt:lpstr>
      <vt:lpstr>Office Theme</vt:lpstr>
      <vt:lpstr>Baguio City Ordinance Tracker Web Database System</vt:lpstr>
      <vt:lpstr>PowerPoint Presentation</vt:lpstr>
      <vt:lpstr>Baguio City Ordinance Tracker Web Database System</vt:lpstr>
      <vt:lpstr>PowerPoint Presentation</vt:lpstr>
      <vt:lpstr>OUR COMPETITION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Baguio City Ordinance Tracker Web Database System</vt:lpstr>
      <vt:lpstr>PowerPoint Presentation</vt:lpstr>
      <vt:lpstr>PowerPoint Presentation</vt:lpstr>
      <vt:lpstr>THANK YOU FOR LISTENING!!</vt:lpstr>
      <vt:lpstr>Baguio City Ordinance Tracker Web Database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Baguio City Ordinance Tracker Web Database System</dc:title>
  <dc:creator>BCT INTERNS</dc:creator>
  <cp:lastModifiedBy>ralphcee8@outlook.com</cp:lastModifiedBy>
  <cp:revision>8</cp:revision>
  <dcterms:created xsi:type="dcterms:W3CDTF">2026-06-22T00:52:49Z</dcterms:created>
  <dcterms:modified xsi:type="dcterms:W3CDTF">2026-06-25T00:53:14Z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